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7" r:id="rId3"/>
    <p:sldId id="259" r:id="rId4"/>
    <p:sldId id="265" r:id="rId5"/>
    <p:sldId id="266" r:id="rId6"/>
    <p:sldId id="268" r:id="rId7"/>
    <p:sldId id="269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17"/>
    <p:restoredTop sz="96405"/>
  </p:normalViewPr>
  <p:slideViewPr>
    <p:cSldViewPr snapToGrid="0" snapToObjects="1">
      <p:cViewPr>
        <p:scale>
          <a:sx n="102" d="100"/>
          <a:sy n="102" d="100"/>
        </p:scale>
        <p:origin x="-360" y="-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04/30/2024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04/30/2024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04/30/2024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04/30/2024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04/30/2024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04/30/2024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04/30/2024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04/30/2024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04/30/2024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04/30/2024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04/30/2024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04/30/2024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04/30/2024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04/30/2024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04/30/2024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04/30/2024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04/30/2024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04/30/2024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12D55-5110-D77C-BC8F-444F1F55E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206262"/>
            <a:ext cx="8825658" cy="17842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HARARE</a:t>
            </a:r>
            <a:r>
              <a:rPr lang="en-US" sz="2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4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REGION</a:t>
            </a:r>
            <a:r>
              <a:rPr lang="en-US" sz="2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- </a:t>
            </a:r>
            <a:r>
              <a:rPr lang="en-US" sz="4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IT</a:t>
            </a:r>
            <a:r>
              <a:rPr lang="en-US" sz="1600" dirty="0"/>
              <a:t/>
            </a:r>
            <a:br>
              <a:rPr lang="en-US" sz="1600" dirty="0"/>
            </a:br>
            <a:endParaRPr lang="en-US" sz="4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8EE381-FDB7-711B-AB3F-6583B8C7C6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298" y="523941"/>
            <a:ext cx="1019638" cy="10196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834816-49AC-3E16-EF86-6DEA2AAD473A}"/>
              </a:ext>
            </a:extLst>
          </p:cNvPr>
          <p:cNvSpPr txBox="1"/>
          <p:nvPr/>
        </p:nvSpPr>
        <p:spPr>
          <a:xfrm>
            <a:off x="1838184" y="2354913"/>
            <a:ext cx="84908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Our </a:t>
            </a:r>
            <a:r>
              <a:rPr lang="en-US" sz="2800" dirty="0" smtClean="0">
                <a:solidFill>
                  <a:schemeClr val="bg1"/>
                </a:solidFill>
              </a:rPr>
              <a:t>Vision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</a:rPr>
              <a:t>To be the major driving force behind business growth and success through the innovative use of Information and Communication Technology (ICT)</a:t>
            </a:r>
            <a:r>
              <a:rPr lang="en-US" sz="2800" dirty="0" smtClean="0">
                <a:solidFill>
                  <a:schemeClr val="bg1"/>
                </a:solidFill>
              </a:rPr>
              <a:t>.</a:t>
            </a:r>
          </a:p>
          <a:p>
            <a:endParaRPr lang="en-US" sz="2800" dirty="0" smtClean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Our Mission</a:t>
            </a:r>
          </a:p>
          <a:p>
            <a:r>
              <a:rPr lang="en-GB" dirty="0">
                <a:solidFill>
                  <a:schemeClr val="bg1"/>
                </a:solidFill>
              </a:rPr>
              <a:t>To enhance customer experience and competitiveness through sustainable and innovative use of ICT.</a:t>
            </a:r>
            <a:endParaRPr lang="en-US" dirty="0">
              <a:solidFill>
                <a:schemeClr val="bg1"/>
              </a:solidFill>
            </a:endParaRPr>
          </a:p>
          <a:p>
            <a:endParaRPr lang="en-US" sz="2800" dirty="0" smtClean="0">
              <a:solidFill>
                <a:schemeClr val="bg1"/>
              </a:solidFill>
            </a:endParaRPr>
          </a:p>
          <a:p>
            <a:endParaRPr lang="en-US" sz="2800" dirty="0" smtClean="0">
              <a:solidFill>
                <a:schemeClr val="bg1"/>
              </a:solidFill>
            </a:endParaRPr>
          </a:p>
          <a:p>
            <a:r>
              <a:rPr lang="en-US" sz="2800" i="1" dirty="0" smtClean="0">
                <a:solidFill>
                  <a:schemeClr val="bg1"/>
                </a:solidFill>
              </a:rPr>
              <a:t>30 April 2024</a:t>
            </a:r>
            <a:endParaRPr lang="en-US" sz="2800" i="1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27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3CE61-4247-D39C-8C52-F993ECF27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STAFF </a:t>
            </a:r>
            <a:r>
              <a:rPr lang="en-US" dirty="0" smtClean="0"/>
              <a:t>COMPLIMENT &amp; KRAs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E75E8-3EAA-8653-5979-75DF0B3AC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182577"/>
          </a:xfrm>
        </p:spPr>
        <p:txBody>
          <a:bodyPr>
            <a:normAutofit/>
          </a:bodyPr>
          <a:lstStyle/>
          <a:p>
            <a:r>
              <a:rPr lang="en-US" sz="2400" dirty="0"/>
              <a:t>8 Permanent</a:t>
            </a:r>
          </a:p>
          <a:p>
            <a:r>
              <a:rPr lang="en-US" sz="2400" dirty="0"/>
              <a:t>1 Vacant</a:t>
            </a:r>
          </a:p>
          <a:p>
            <a:r>
              <a:rPr lang="en-US" sz="2400" dirty="0"/>
              <a:t>4</a:t>
            </a:r>
            <a:r>
              <a:rPr lang="en-US" sz="2400" dirty="0" smtClean="0"/>
              <a:t> </a:t>
            </a:r>
            <a:r>
              <a:rPr lang="en-US" sz="2400" dirty="0"/>
              <a:t>contract (</a:t>
            </a:r>
            <a:r>
              <a:rPr lang="en-US" sz="2400" dirty="0" smtClean="0"/>
              <a:t>Programmers &amp; SSOs)</a:t>
            </a:r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315350"/>
              </p:ext>
            </p:extLst>
          </p:nvPr>
        </p:nvGraphicFramePr>
        <p:xfrm>
          <a:off x="1275746" y="4111014"/>
          <a:ext cx="9530000" cy="274698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587697">
                  <a:extLst>
                    <a:ext uri="{9D8B030D-6E8A-4147-A177-3AD203B41FA5}">
                      <a16:colId xmlns:a16="http://schemas.microsoft.com/office/drawing/2014/main" val="1139409369"/>
                    </a:ext>
                  </a:extLst>
                </a:gridCol>
                <a:gridCol w="6366040">
                  <a:extLst>
                    <a:ext uri="{9D8B030D-6E8A-4147-A177-3AD203B41FA5}">
                      <a16:colId xmlns:a16="http://schemas.microsoft.com/office/drawing/2014/main" val="2163113937"/>
                    </a:ext>
                  </a:extLst>
                </a:gridCol>
                <a:gridCol w="1576263">
                  <a:extLst>
                    <a:ext uri="{9D8B030D-6E8A-4147-A177-3AD203B41FA5}">
                      <a16:colId xmlns:a16="http://schemas.microsoft.com/office/drawing/2014/main" val="1144934254"/>
                    </a:ext>
                  </a:extLst>
                </a:gridCol>
              </a:tblGrid>
              <a:tr h="86274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3200" spc="-10" baseline="30000" dirty="0">
                          <a:effectLst/>
                        </a:rPr>
                        <a:t>No.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3200" spc="-10" baseline="30000" dirty="0">
                          <a:effectLst/>
                        </a:rPr>
                        <a:t>Key Result Area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3200" spc="-10" baseline="30000" dirty="0">
                          <a:effectLst/>
                        </a:rPr>
                        <a:t>Weightage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4418596"/>
                  </a:ext>
                </a:extLst>
              </a:tr>
              <a:tr h="88154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800" spc="-10">
                          <a:effectLst/>
                        </a:rPr>
                        <a:t>KRA1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800" b="1" spc="-10" dirty="0">
                          <a:solidFill>
                            <a:schemeClr val="bg1"/>
                          </a:solidFill>
                          <a:effectLst/>
                        </a:rPr>
                        <a:t>Provide reliable ICT services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800" spc="-10">
                          <a:effectLst/>
                        </a:rPr>
                        <a:t>30%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1097390"/>
                  </a:ext>
                </a:extLst>
              </a:tr>
              <a:tr h="100270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800" spc="-10">
                          <a:effectLst/>
                        </a:rPr>
                        <a:t>KRA2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800" spc="-10">
                          <a:effectLst/>
                        </a:rPr>
                        <a:t>Improve business productivity and operational efficiency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spc="-10" dirty="0">
                          <a:effectLst/>
                        </a:rPr>
                        <a:t>70%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88808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673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6586669-8CA8-D1A5-E7B0-7EE80DA6F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041287"/>
              </p:ext>
            </p:extLst>
          </p:nvPr>
        </p:nvGraphicFramePr>
        <p:xfrm>
          <a:off x="0" y="-10391"/>
          <a:ext cx="11962877" cy="7017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611">
                  <a:extLst>
                    <a:ext uri="{9D8B030D-6E8A-4147-A177-3AD203B41FA5}">
                      <a16:colId xmlns:a16="http://schemas.microsoft.com/office/drawing/2014/main" val="2796986251"/>
                    </a:ext>
                  </a:extLst>
                </a:gridCol>
                <a:gridCol w="845561">
                  <a:extLst>
                    <a:ext uri="{9D8B030D-6E8A-4147-A177-3AD203B41FA5}">
                      <a16:colId xmlns:a16="http://schemas.microsoft.com/office/drawing/2014/main" val="826734797"/>
                    </a:ext>
                  </a:extLst>
                </a:gridCol>
                <a:gridCol w="900960">
                  <a:extLst>
                    <a:ext uri="{9D8B030D-6E8A-4147-A177-3AD203B41FA5}">
                      <a16:colId xmlns:a16="http://schemas.microsoft.com/office/drawing/2014/main" val="1452838705"/>
                    </a:ext>
                  </a:extLst>
                </a:gridCol>
                <a:gridCol w="900960">
                  <a:extLst>
                    <a:ext uri="{9D8B030D-6E8A-4147-A177-3AD203B41FA5}">
                      <a16:colId xmlns:a16="http://schemas.microsoft.com/office/drawing/2014/main" val="1555248825"/>
                    </a:ext>
                  </a:extLst>
                </a:gridCol>
                <a:gridCol w="3230272">
                  <a:extLst>
                    <a:ext uri="{9D8B030D-6E8A-4147-A177-3AD203B41FA5}">
                      <a16:colId xmlns:a16="http://schemas.microsoft.com/office/drawing/2014/main" val="3880699932"/>
                    </a:ext>
                  </a:extLst>
                </a:gridCol>
                <a:gridCol w="2970964">
                  <a:extLst>
                    <a:ext uri="{9D8B030D-6E8A-4147-A177-3AD203B41FA5}">
                      <a16:colId xmlns:a16="http://schemas.microsoft.com/office/drawing/2014/main" val="2709188334"/>
                    </a:ext>
                  </a:extLst>
                </a:gridCol>
                <a:gridCol w="873549">
                  <a:extLst>
                    <a:ext uri="{9D8B030D-6E8A-4147-A177-3AD203B41FA5}">
                      <a16:colId xmlns:a16="http://schemas.microsoft.com/office/drawing/2014/main" val="1736253465"/>
                    </a:ext>
                  </a:extLst>
                </a:gridCol>
              </a:tblGrid>
              <a:tr h="507316">
                <a:tc>
                  <a:txBody>
                    <a:bodyPr/>
                    <a:lstStyle/>
                    <a:p>
                      <a:r>
                        <a:rPr lang="en-US" sz="1100" dirty="0"/>
                        <a:t>ACTIVITY/PROJECT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1st</a:t>
                      </a:r>
                      <a:r>
                        <a:rPr lang="en-US" sz="1100" baseline="0" dirty="0" smtClean="0"/>
                        <a:t> </a:t>
                      </a:r>
                      <a:r>
                        <a:rPr lang="en-US" sz="1100" dirty="0" smtClean="0"/>
                        <a:t> Quarter Targets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Actual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CHALLENGES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MITIGATION MEASURES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2024 Targets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948200"/>
                  </a:ext>
                </a:extLst>
              </a:tr>
              <a:tr h="993803">
                <a:tc>
                  <a:txBody>
                    <a:bodyPr/>
                    <a:lstStyle/>
                    <a:p>
                      <a:r>
                        <a:rPr lang="en-ZW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Business processes automated and reviewed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rowSpan="1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Hardware and services procurement challenges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Staff turnover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Competing demands/projects.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Commitment from user departments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Changing user requirements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Integration challenges with existing systems.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Hardware for security on internet facing end.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acquisition.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Lack of expertise.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Compatibility of application with all devices.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Commitment from consultants.</a:t>
                      </a:r>
                    </a:p>
                  </a:txBody>
                  <a:tcPr/>
                </a:tc>
                <a:tc rowSpan="10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Adopt innovative ways to address procurement challenges.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Review IT Org Chart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Collaborate with HO and other regions to boost programming team.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Organisational change </a:t>
                      </a:r>
                      <a:r>
                        <a:rPr lang="en-ZW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management</a:t>
                      </a:r>
                      <a:endParaRPr lang="en-ZW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 staff.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062272"/>
                  </a:ext>
                </a:extLst>
              </a:tr>
              <a:tr h="448622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Invoice checking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50%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25%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25%</a:t>
                      </a:r>
                      <a:endParaRPr 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Staff turnover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Review IT Org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045182"/>
                  </a:ext>
                </a:extLst>
              </a:tr>
              <a:tr h="665775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IRBM Appraisal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W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W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ZW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en-ZW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Competing demands.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Collaborate with HO and other regions to boost programming team.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572584"/>
                  </a:ext>
                </a:extLst>
              </a:tr>
              <a:tr h="438554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smtClean="0"/>
                        <a:t>50%%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smtClean="0"/>
                        <a:t>50%</a:t>
                      </a:r>
                      <a:endParaRPr 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Commitment from user departments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Changing user requirements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Integration challenges with existing systems.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Organisational change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905221"/>
                  </a:ext>
                </a:extLst>
              </a:tr>
              <a:tr h="642602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HR Asset 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smtClean="0"/>
                        <a:t>90%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smtClean="0"/>
                        <a:t>10%</a:t>
                      </a:r>
                      <a:endParaRPr 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Commitment from user department.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Organisational change management.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074303"/>
                  </a:ext>
                </a:extLst>
              </a:tr>
              <a:tr h="840978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Equipment Inspection</a:t>
                      </a:r>
                      <a:endParaRPr lang="en-ZW" sz="14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r>
                        <a:rPr lang="en-US" sz="16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r>
                        <a:rPr lang="en-US" sz="1600" dirty="0" smtClean="0"/>
                        <a:t>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Hardware for security on internet facing end.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Competing projects.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Firewall acquisition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ZW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426858"/>
                  </a:ext>
                </a:extLst>
              </a:tr>
              <a:tr h="595693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 cards login</a:t>
                      </a:r>
                      <a:endParaRPr lang="en-ZW" sz="14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acquisition.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Lack of expertise.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Capture as per request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 staff.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349576"/>
                  </a:ext>
                </a:extLst>
              </a:tr>
              <a:tr h="595693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 Connection Records</a:t>
                      </a:r>
                      <a:r>
                        <a:rPr lang="en-ZW" sz="1400">
                          <a:effectLst/>
                        </a:rPr>
                        <a:t> </a:t>
                      </a:r>
                      <a:endParaRPr lang="en-ZW" sz="14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90%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smtClean="0"/>
                        <a:t>10%</a:t>
                      </a:r>
                      <a:endParaRPr 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Commitment from user department.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Organisational change management.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678575"/>
                  </a:ext>
                </a:extLst>
              </a:tr>
              <a:tr h="401600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400">
                          <a:effectLst/>
                        </a:rPr>
                        <a:t>Safety Documents</a:t>
                      </a:r>
                      <a:endParaRPr lang="en-ZW" sz="14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smtClean="0"/>
                        <a:t>60%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smtClean="0"/>
                        <a:t>0%</a:t>
                      </a:r>
                      <a:endParaRPr 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Hardware for security on internet facing end.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ZW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297452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400">
                          <a:effectLst/>
                        </a:rPr>
                        <a:t>ND Quotations</a:t>
                      </a:r>
                      <a:endParaRPr lang="en-ZW" sz="14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100%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smtClean="0"/>
                        <a:t>100%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smtClean="0"/>
                        <a:t>0%</a:t>
                      </a:r>
                      <a:endParaRPr 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552687"/>
                  </a:ext>
                </a:extLst>
              </a:tr>
              <a:tr h="415716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400">
                          <a:effectLst/>
                        </a:rPr>
                        <a:t>Loadshedding App</a:t>
                      </a:r>
                      <a:endParaRPr lang="en-ZW" sz="14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90%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90%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0%</a:t>
                      </a:r>
                      <a:endParaRPr 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ZW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449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3704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6586669-8CA8-D1A5-E7B0-7EE80DA6F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184978"/>
              </p:ext>
            </p:extLst>
          </p:nvPr>
        </p:nvGraphicFramePr>
        <p:xfrm>
          <a:off x="-61471" y="1"/>
          <a:ext cx="12530563" cy="7457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233">
                  <a:extLst>
                    <a:ext uri="{9D8B030D-6E8A-4147-A177-3AD203B41FA5}">
                      <a16:colId xmlns:a16="http://schemas.microsoft.com/office/drawing/2014/main" val="2796986251"/>
                    </a:ext>
                  </a:extLst>
                </a:gridCol>
                <a:gridCol w="850029">
                  <a:extLst>
                    <a:ext uri="{9D8B030D-6E8A-4147-A177-3AD203B41FA5}">
                      <a16:colId xmlns:a16="http://schemas.microsoft.com/office/drawing/2014/main" val="80115031"/>
                    </a:ext>
                  </a:extLst>
                </a:gridCol>
                <a:gridCol w="1160479">
                  <a:extLst>
                    <a:ext uri="{9D8B030D-6E8A-4147-A177-3AD203B41FA5}">
                      <a16:colId xmlns:a16="http://schemas.microsoft.com/office/drawing/2014/main" val="826734797"/>
                    </a:ext>
                  </a:extLst>
                </a:gridCol>
                <a:gridCol w="1033881">
                  <a:extLst>
                    <a:ext uri="{9D8B030D-6E8A-4147-A177-3AD203B41FA5}">
                      <a16:colId xmlns:a16="http://schemas.microsoft.com/office/drawing/2014/main" val="1555248825"/>
                    </a:ext>
                  </a:extLst>
                </a:gridCol>
                <a:gridCol w="3595837">
                  <a:extLst>
                    <a:ext uri="{9D8B030D-6E8A-4147-A177-3AD203B41FA5}">
                      <a16:colId xmlns:a16="http://schemas.microsoft.com/office/drawing/2014/main" val="3880699932"/>
                    </a:ext>
                  </a:extLst>
                </a:gridCol>
                <a:gridCol w="3057199">
                  <a:extLst>
                    <a:ext uri="{9D8B030D-6E8A-4147-A177-3AD203B41FA5}">
                      <a16:colId xmlns:a16="http://schemas.microsoft.com/office/drawing/2014/main" val="2709188334"/>
                    </a:ext>
                  </a:extLst>
                </a:gridCol>
                <a:gridCol w="898905">
                  <a:extLst>
                    <a:ext uri="{9D8B030D-6E8A-4147-A177-3AD203B41FA5}">
                      <a16:colId xmlns:a16="http://schemas.microsoft.com/office/drawing/2014/main" val="1736253465"/>
                    </a:ext>
                  </a:extLst>
                </a:gridCol>
              </a:tblGrid>
              <a:tr h="696970">
                <a:tc>
                  <a:txBody>
                    <a:bodyPr/>
                    <a:lstStyle/>
                    <a:p>
                      <a:r>
                        <a:rPr lang="en-US" sz="1400" dirty="0"/>
                        <a:t>ACTIVITY/PROJECT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1st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 Quarter  </a:t>
                      </a:r>
                      <a:r>
                        <a:rPr lang="en-US" sz="1400" dirty="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Actual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Varience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CHALLENGES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MITIGATION MEASURES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2024 Targets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948200"/>
                  </a:ext>
                </a:extLst>
              </a:tr>
              <a:tr h="4165794">
                <a:tc>
                  <a:txBody>
                    <a:bodyPr/>
                    <a:lstStyle/>
                    <a:p>
                      <a:r>
                        <a:rPr lang="en-ZW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Hardware Acquired and Upgraded</a:t>
                      </a:r>
                    </a:p>
                    <a:p>
                      <a:endParaRPr lang="en-ZW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Z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replace: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263 </a:t>
                      </a:r>
                      <a:r>
                        <a:rPr lang="en-Z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computers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Routers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 Switches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ZW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ZW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5.14%</a:t>
                      </a:r>
                      <a:endParaRPr lang="en-US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14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PCs</a:t>
                      </a:r>
                    </a:p>
                    <a:p>
                      <a:r>
                        <a:rPr lang="en-US" baseline="0" dirty="0" smtClean="0"/>
                        <a:t>(11 Desktops, 5 Laptops)</a:t>
                      </a:r>
                      <a:r>
                        <a:rPr lang="en-US" dirty="0" smtClean="0"/>
                        <a:t> 1 Switch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Challenges with procurement </a:t>
                      </a:r>
                      <a:r>
                        <a:rPr lang="en-US" dirty="0" smtClean="0"/>
                        <a:t>(</a:t>
                      </a:r>
                      <a:r>
                        <a:rPr lang="en-US" dirty="0" err="1" smtClean="0"/>
                        <a:t>Powertel</a:t>
                      </a:r>
                      <a:r>
                        <a:rPr lang="en-US" dirty="0" smtClean="0"/>
                        <a:t> failing to deliver).</a:t>
                      </a:r>
                      <a:endParaRPr lang="en-US" dirty="0"/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Theft ( </a:t>
                      </a:r>
                      <a:r>
                        <a:rPr lang="en-US" dirty="0" smtClean="0"/>
                        <a:t>1 laptop </a:t>
                      </a:r>
                      <a:r>
                        <a:rPr lang="en-US" dirty="0"/>
                        <a:t>lost in </a:t>
                      </a:r>
                      <a:r>
                        <a:rPr lang="en-US" dirty="0" smtClean="0"/>
                        <a:t>2024)</a:t>
                      </a:r>
                      <a:endParaRPr lang="en-US" dirty="0"/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Undelivered orders </a:t>
                      </a:r>
                      <a:r>
                        <a:rPr lang="en-US" dirty="0" smtClean="0"/>
                        <a:t>-105 PCs (42 laptops +</a:t>
                      </a:r>
                      <a:r>
                        <a:rPr lang="en-US" baseline="0" dirty="0" smtClean="0"/>
                        <a:t> 63 Laptops).</a:t>
                      </a:r>
                      <a:endParaRPr lang="en-US" dirty="0" smtClean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Switches</a:t>
                      </a:r>
                      <a:r>
                        <a:rPr lang="en-US" baseline="0" dirty="0" smtClean="0"/>
                        <a:t> being procured centrally from HO.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 smtClean="0"/>
                        <a:t>Persue</a:t>
                      </a:r>
                      <a:r>
                        <a:rPr lang="en-US" dirty="0" smtClean="0"/>
                        <a:t> DOM 12 of 2023 tender with 74 laptop and 126 desktop PCs.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To procure critical PCs from alternative suppliers.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BYOD currently being used as a stopgap measure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Considering GPS tracking for laptops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Considering to procure anti theft cable locks for every user with a </a:t>
                      </a:r>
                      <a:r>
                        <a:rPr lang="en-US" dirty="0" smtClean="0"/>
                        <a:t>laptop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100%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062272"/>
                  </a:ext>
                </a:extLst>
              </a:tr>
              <a:tr h="25195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ZW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Hardware Disposed</a:t>
                      </a:r>
                      <a:endParaRPr lang="en-ZW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 </a:t>
                      </a:r>
                      <a:r>
                        <a:rPr lang="en-ZW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catridges</a:t>
                      </a:r>
                      <a:r>
                        <a:rPr lang="en-Z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not disposed.</a:t>
                      </a:r>
                      <a:endParaRPr lang="en-ZW" sz="18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No clear way to dispose obsolete IT consumables.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Engage disposal committee to agree on safe disposal method of </a:t>
                      </a:r>
                      <a:r>
                        <a:rPr lang="en-US" dirty="0" err="1"/>
                        <a:t>obsoleteIT</a:t>
                      </a:r>
                      <a:r>
                        <a:rPr lang="en-US" dirty="0"/>
                        <a:t> consumables.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308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342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6586669-8CA8-D1A5-E7B0-7EE80DA6F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10412"/>
              </p:ext>
            </p:extLst>
          </p:nvPr>
        </p:nvGraphicFramePr>
        <p:xfrm>
          <a:off x="0" y="23055"/>
          <a:ext cx="12191999" cy="765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817">
                  <a:extLst>
                    <a:ext uri="{9D8B030D-6E8A-4147-A177-3AD203B41FA5}">
                      <a16:colId xmlns:a16="http://schemas.microsoft.com/office/drawing/2014/main" val="2796986251"/>
                    </a:ext>
                  </a:extLst>
                </a:gridCol>
                <a:gridCol w="957410">
                  <a:extLst>
                    <a:ext uri="{9D8B030D-6E8A-4147-A177-3AD203B41FA5}">
                      <a16:colId xmlns:a16="http://schemas.microsoft.com/office/drawing/2014/main" val="1347381518"/>
                    </a:ext>
                  </a:extLst>
                </a:gridCol>
                <a:gridCol w="957410">
                  <a:extLst>
                    <a:ext uri="{9D8B030D-6E8A-4147-A177-3AD203B41FA5}">
                      <a16:colId xmlns:a16="http://schemas.microsoft.com/office/drawing/2014/main" val="826734797"/>
                    </a:ext>
                  </a:extLst>
                </a:gridCol>
                <a:gridCol w="1002981">
                  <a:extLst>
                    <a:ext uri="{9D8B030D-6E8A-4147-A177-3AD203B41FA5}">
                      <a16:colId xmlns:a16="http://schemas.microsoft.com/office/drawing/2014/main" val="1555248825"/>
                    </a:ext>
                  </a:extLst>
                </a:gridCol>
                <a:gridCol w="3190632">
                  <a:extLst>
                    <a:ext uri="{9D8B030D-6E8A-4147-A177-3AD203B41FA5}">
                      <a16:colId xmlns:a16="http://schemas.microsoft.com/office/drawing/2014/main" val="3880699932"/>
                    </a:ext>
                  </a:extLst>
                </a:gridCol>
                <a:gridCol w="2663914">
                  <a:extLst>
                    <a:ext uri="{9D8B030D-6E8A-4147-A177-3AD203B41FA5}">
                      <a16:colId xmlns:a16="http://schemas.microsoft.com/office/drawing/2014/main" val="2709188334"/>
                    </a:ext>
                  </a:extLst>
                </a:gridCol>
                <a:gridCol w="871835">
                  <a:extLst>
                    <a:ext uri="{9D8B030D-6E8A-4147-A177-3AD203B41FA5}">
                      <a16:colId xmlns:a16="http://schemas.microsoft.com/office/drawing/2014/main" val="1736253465"/>
                    </a:ext>
                  </a:extLst>
                </a:gridCol>
              </a:tblGrid>
              <a:tr h="495677">
                <a:tc>
                  <a:txBody>
                    <a:bodyPr/>
                    <a:lstStyle/>
                    <a:p>
                      <a:r>
                        <a:rPr lang="en-US" sz="1400" dirty="0"/>
                        <a:t>ACTIVITY/PROJECT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1st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 Quarter Targets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Actual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CHALLENGES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MITIGATION MEASURES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2024 Targets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948200"/>
                  </a:ext>
                </a:extLst>
              </a:tr>
              <a:tr h="218681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b="1" dirty="0"/>
                        <a:t>Network Availability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smtClean="0"/>
                        <a:t>Fountain court network</a:t>
                      </a:r>
                      <a:r>
                        <a:rPr lang="en-US" sz="1600" baseline="0" dirty="0" smtClean="0"/>
                        <a:t> cabling</a:t>
                      </a:r>
                      <a:r>
                        <a:rPr lang="en-US" sz="1600" dirty="0" smtClean="0"/>
                        <a:t> completed.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 smtClean="0"/>
                        <a:t>Ruwa</a:t>
                      </a:r>
                      <a:r>
                        <a:rPr lang="en-US" sz="1600" dirty="0" smtClean="0"/>
                        <a:t> (new)awaiting construction to finish off.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Ruwa and </a:t>
                      </a:r>
                      <a:r>
                        <a:rPr lang="en-US" sz="1600" dirty="0" err="1"/>
                        <a:t>Mabvuku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Powertel</a:t>
                      </a:r>
                      <a:r>
                        <a:rPr lang="en-US" sz="1600" dirty="0"/>
                        <a:t> links frequently affected by construction in the </a:t>
                      </a:r>
                      <a:r>
                        <a:rPr lang="en-US" sz="1600" dirty="0" err="1"/>
                        <a:t>fibre</a:t>
                      </a:r>
                      <a:r>
                        <a:rPr lang="en-US" sz="1600" dirty="0"/>
                        <a:t> route, ADSL currently implemented as backup is failing to meet network requirement.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Unavailability of network monitoring tool.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Lobby for </a:t>
                      </a:r>
                      <a:r>
                        <a:rPr lang="en-US" dirty="0" err="1"/>
                        <a:t>Powertel</a:t>
                      </a:r>
                      <a:r>
                        <a:rPr lang="en-US" dirty="0"/>
                        <a:t> to consider overhead </a:t>
                      </a:r>
                      <a:r>
                        <a:rPr lang="en-US" dirty="0" err="1"/>
                        <a:t>fibre</a:t>
                      </a:r>
                      <a:r>
                        <a:rPr lang="en-US" dirty="0"/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Ruwa Depot is relocating to a better service area.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140529"/>
                  </a:ext>
                </a:extLst>
              </a:tr>
              <a:tr h="2711647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="1" dirty="0"/>
                        <a:t>Technical Support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Issues </a:t>
                      </a:r>
                      <a:r>
                        <a:rPr lang="en-US" sz="1600" b="0" dirty="0" smtClean="0"/>
                        <a:t>resolved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 smtClean="0"/>
                        <a:t>Hardware and Software Maintenance (Completed</a:t>
                      </a:r>
                      <a:r>
                        <a:rPr lang="en-US" sz="1600" b="0" baseline="0" dirty="0" smtClean="0"/>
                        <a:t> North and South </a:t>
                      </a:r>
                      <a:r>
                        <a:rPr lang="en-US" sz="1600" b="0" baseline="0" dirty="0" err="1" smtClean="0"/>
                        <a:t>Distrists</a:t>
                      </a:r>
                      <a:r>
                        <a:rPr lang="en-US" sz="1600" b="0" dirty="0" smtClean="0"/>
                        <a:t>)</a:t>
                      </a:r>
                      <a:endParaRPr lang="en-US" sz="1600" b="0" dirty="0"/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smtClean="0"/>
                        <a:t>ITSM</a:t>
                      </a:r>
                      <a:r>
                        <a:rPr lang="en-US" sz="1600" baseline="0" dirty="0" smtClean="0"/>
                        <a:t> not providing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/>
                        <a:t>end to end service desk.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Lack of knowledge in problem resolution.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Regional and HO IT structures not cohesive.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User friendly service desk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Internal trainings for existing and new systems.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Implement IT organizational chart inline with business requirements.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193612"/>
                  </a:ext>
                </a:extLst>
              </a:tr>
              <a:tr h="1253772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="1" dirty="0"/>
                        <a:t>Training &amp;Development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Project management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IT service </a:t>
                      </a:r>
                      <a:r>
                        <a:rPr lang="en-US" sz="1600" b="0" dirty="0" smtClean="0"/>
                        <a:t>management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 smtClean="0"/>
                        <a:t>Cybersecurity training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24.5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Procurement challenges.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Competent trainers with hands on experience</a:t>
                      </a:r>
                      <a:r>
                        <a:rPr lang="en-US" sz="1600" dirty="0" smtClean="0"/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smtClean="0"/>
                        <a:t>Low uptake of Cybersecurity courses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Utilize </a:t>
                      </a:r>
                      <a:r>
                        <a:rPr lang="en-US" dirty="0" err="1"/>
                        <a:t>inhouse</a:t>
                      </a:r>
                      <a:r>
                        <a:rPr lang="en-US" dirty="0"/>
                        <a:t> </a:t>
                      </a:r>
                      <a:r>
                        <a:rPr lang="en-US" dirty="0" smtClean="0"/>
                        <a:t>trainings.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Site visits on working solutions.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544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0294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08" y="395655"/>
            <a:ext cx="11412415" cy="600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216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6586669-8CA8-D1A5-E7B0-7EE80DA6F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287081"/>
              </p:ext>
            </p:extLst>
          </p:nvPr>
        </p:nvGraphicFramePr>
        <p:xfrm>
          <a:off x="0" y="-10391"/>
          <a:ext cx="11962877" cy="6868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611">
                  <a:extLst>
                    <a:ext uri="{9D8B030D-6E8A-4147-A177-3AD203B41FA5}">
                      <a16:colId xmlns:a16="http://schemas.microsoft.com/office/drawing/2014/main" val="2796986251"/>
                    </a:ext>
                  </a:extLst>
                </a:gridCol>
                <a:gridCol w="845561">
                  <a:extLst>
                    <a:ext uri="{9D8B030D-6E8A-4147-A177-3AD203B41FA5}">
                      <a16:colId xmlns:a16="http://schemas.microsoft.com/office/drawing/2014/main" val="826734797"/>
                    </a:ext>
                  </a:extLst>
                </a:gridCol>
                <a:gridCol w="900960">
                  <a:extLst>
                    <a:ext uri="{9D8B030D-6E8A-4147-A177-3AD203B41FA5}">
                      <a16:colId xmlns:a16="http://schemas.microsoft.com/office/drawing/2014/main" val="1452838705"/>
                    </a:ext>
                  </a:extLst>
                </a:gridCol>
                <a:gridCol w="900960">
                  <a:extLst>
                    <a:ext uri="{9D8B030D-6E8A-4147-A177-3AD203B41FA5}">
                      <a16:colId xmlns:a16="http://schemas.microsoft.com/office/drawing/2014/main" val="1555248825"/>
                    </a:ext>
                  </a:extLst>
                </a:gridCol>
                <a:gridCol w="3230272">
                  <a:extLst>
                    <a:ext uri="{9D8B030D-6E8A-4147-A177-3AD203B41FA5}">
                      <a16:colId xmlns:a16="http://schemas.microsoft.com/office/drawing/2014/main" val="3880699932"/>
                    </a:ext>
                  </a:extLst>
                </a:gridCol>
                <a:gridCol w="2970964">
                  <a:extLst>
                    <a:ext uri="{9D8B030D-6E8A-4147-A177-3AD203B41FA5}">
                      <a16:colId xmlns:a16="http://schemas.microsoft.com/office/drawing/2014/main" val="2709188334"/>
                    </a:ext>
                  </a:extLst>
                </a:gridCol>
                <a:gridCol w="873549">
                  <a:extLst>
                    <a:ext uri="{9D8B030D-6E8A-4147-A177-3AD203B41FA5}">
                      <a16:colId xmlns:a16="http://schemas.microsoft.com/office/drawing/2014/main" val="1736253465"/>
                    </a:ext>
                  </a:extLst>
                </a:gridCol>
              </a:tblGrid>
              <a:tr h="610962">
                <a:tc>
                  <a:txBody>
                    <a:bodyPr/>
                    <a:lstStyle/>
                    <a:p>
                      <a:r>
                        <a:rPr lang="en-US" sz="1100" dirty="0"/>
                        <a:t>ACTIVITY/PROJECT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1st</a:t>
                      </a:r>
                      <a:r>
                        <a:rPr lang="en-US" sz="1100" baseline="0" dirty="0" smtClean="0"/>
                        <a:t> </a:t>
                      </a:r>
                      <a:r>
                        <a:rPr lang="en-US" sz="1100" dirty="0" smtClean="0"/>
                        <a:t> Quarter Targets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Actual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CHALLENGES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MITIGATION MEASURES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2024 Targets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948200"/>
                  </a:ext>
                </a:extLst>
              </a:tr>
              <a:tr h="1021563">
                <a:tc>
                  <a:txBody>
                    <a:bodyPr/>
                    <a:lstStyle/>
                    <a:p>
                      <a:r>
                        <a:rPr lang="en-ZW" sz="16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Systems Currently being implemented (HO)</a:t>
                      </a:r>
                      <a:endParaRPr lang="en-ZW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rowSpan="10"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Funding constraints.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Competing projects.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Lack of user participation in projects.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ZW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rowSpan="10"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Secure funding for all projects.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Projects streamlining.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Enhance communication and collaboration with users.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062272"/>
                  </a:ext>
                </a:extLst>
              </a:tr>
              <a:tr h="461153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CRM</a:t>
                      </a:r>
                      <a:endParaRPr lang="en-ZW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?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?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Staff turnover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Review IT Org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100%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045182"/>
                  </a:ext>
                </a:extLst>
              </a:tr>
              <a:tr h="684372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SAP Fiori</a:t>
                      </a:r>
                      <a:endParaRPr lang="en-ZW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?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W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en-ZW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Competing demands.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Collaborate with HO and other regions to boost programming team.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100%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572584"/>
                  </a:ext>
                </a:extLst>
              </a:tr>
              <a:tr h="532634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Video Conferencing Solution</a:t>
                      </a:r>
                      <a:endParaRPr lang="en-ZW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?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?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Commitment from user departments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Changing user requirements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Integration challenges with existing systems.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Organisational change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100%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905221"/>
                  </a:ext>
                </a:extLst>
              </a:tr>
              <a:tr h="660552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Electronic Payment System</a:t>
                      </a:r>
                      <a:endParaRPr lang="en-ZW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?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?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Commitment from user department.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Organisational change management.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100%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074303"/>
                  </a:ext>
                </a:extLst>
              </a:tr>
              <a:tr h="864469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400" dirty="0" smtClean="0">
                          <a:effectLst/>
                        </a:rPr>
                        <a:t>Commercial Mobile App</a:t>
                      </a:r>
                      <a:endParaRPr lang="en-ZW" sz="14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?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?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Hardware for security on internet facing end.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Competing projects.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Firewall acquisition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ZW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100%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426858"/>
                  </a:ext>
                </a:extLst>
              </a:tr>
              <a:tr h="612332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400" dirty="0" smtClean="0">
                          <a:effectLst/>
                        </a:rPr>
                        <a:t>MDMS</a:t>
                      </a:r>
                      <a:endParaRPr lang="en-ZW" sz="14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?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?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acquisition.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Lack of expertise.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Capture as per request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 staff.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100%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349576"/>
                  </a:ext>
                </a:extLst>
              </a:tr>
              <a:tr h="612332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400" dirty="0" smtClean="0">
                          <a:effectLst/>
                        </a:rPr>
                        <a:t>Biometric Systems</a:t>
                      </a:r>
                      <a:endParaRPr lang="en-ZW" sz="14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?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?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Commitment from user department.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Organisational change management.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100%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678575"/>
                  </a:ext>
                </a:extLst>
              </a:tr>
              <a:tr h="412818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400" dirty="0" smtClean="0">
                          <a:effectLst/>
                        </a:rPr>
                        <a:t>Website upgrade</a:t>
                      </a:r>
                      <a:endParaRPr lang="en-ZW" sz="14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?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?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Hardware for security on internet facing end.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ZW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100%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297452"/>
                  </a:ext>
                </a:extLst>
              </a:tr>
              <a:tr h="395203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400" dirty="0" smtClean="0">
                          <a:effectLst/>
                        </a:rPr>
                        <a:t>Statistical Metering</a:t>
                      </a:r>
                      <a:endParaRPr lang="en-ZW" sz="14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?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?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</a:t>
                      </a:r>
                      <a:endParaRPr 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100%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552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103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FD6FF-6544-46A5-5A1F-808E74CE3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789" y="1798820"/>
            <a:ext cx="8453906" cy="2152320"/>
          </a:xfrm>
        </p:spPr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END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0459" y="869430"/>
            <a:ext cx="61909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“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Technology is nothing. What’s important is that you have faith in people, that they’re basically good and smart — and if you give them tools, they’ll do wonderful things with 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them.  Tools 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are just tools. They either work, or they don’t work</a:t>
            </a:r>
            <a:r>
              <a:rPr lang="en-US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.”</a:t>
            </a:r>
          </a:p>
          <a:p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Steve </a:t>
            </a:r>
            <a:r>
              <a:rPr lang="en-US" b="1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Jobs</a:t>
            </a:r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13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1642</TotalTime>
  <Words>811</Words>
  <Application>Microsoft Office PowerPoint</Application>
  <PresentationFormat>Widescreen</PresentationFormat>
  <Paragraphs>239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Rounded MT Bold</vt:lpstr>
      <vt:lpstr>Century Gothic</vt:lpstr>
      <vt:lpstr>Times New Roman</vt:lpstr>
      <vt:lpstr>Wingdings 3</vt:lpstr>
      <vt:lpstr>Ion Boardroom</vt:lpstr>
      <vt:lpstr>HARARE REGION - IT </vt:lpstr>
      <vt:lpstr>STAFF COMPLIMENT &amp; KRAs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END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2022 OPERATIONAL PLAN</dc:title>
  <dc:creator>Mike Chivinge</dc:creator>
  <cp:lastModifiedBy>Mike Chivinge</cp:lastModifiedBy>
  <cp:revision>122</cp:revision>
  <dcterms:created xsi:type="dcterms:W3CDTF">2022-05-26T07:26:50Z</dcterms:created>
  <dcterms:modified xsi:type="dcterms:W3CDTF">2024-04-30T09:47:49Z</dcterms:modified>
</cp:coreProperties>
</file>